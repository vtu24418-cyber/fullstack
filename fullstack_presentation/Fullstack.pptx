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67" r:id="rId12"/>
    <p:sldId id="268"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388" autoAdjust="0"/>
  </p:normalViewPr>
  <p:slideViewPr>
    <p:cSldViewPr>
      <p:cViewPr>
        <p:scale>
          <a:sx n="66" d="100"/>
          <a:sy n="66" d="100"/>
        </p:scale>
        <p:origin x="38"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RELATIONAL INVENTORY CONTROL &amp; STOCK TRACKING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JITHEESWAR.S– VTU24418 – 23UECS1251.</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err="1"/>
              <a:t>Dr.M</a:t>
            </a:r>
            <a:r>
              <a:rPr lang="en-IN" sz="3200" dirty="0"/>
              <a:t> MAGESHWARI</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a:t>
            </a:r>
            <a:r>
              <a:rPr lang="en-US" sz="2000" b="1" dirty="0"/>
              <a:t>SDG 12: (Responsible Consumption and Production</a:t>
            </a:r>
            <a:r>
              <a:rPr lang="en-US" sz="2000" b="1" dirty="0">
                <a:latin typeface="Cambria" panose="02040503050406030204" pitchFamily="18" charset="0"/>
                <a:ea typeface="Cambria" panose="02040503050406030204" pitchFamily="18" charset="0"/>
              </a:rPr>
              <a:t>).</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1905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57440" y="1952203"/>
            <a:ext cx="15082325" cy="10864513"/>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Traditional manual inventory methods often lead to significant data inaccuracies, resulting in overstocking and unnecessary waste. This project is vital for modernizing supply chains to ensure resource efficiency and minimize environmental impact. By providing real-world transparency, the system helps businesses meet global sustainability targets through reduced spoilage. This Relational Inventory Control &amp; Stock Tracking System utilizes a structured database to monitor stock levels in real-time. It automates replenishment alerts to prevent excess accumulation and optimizes the distribution of goods. Ultimately, the system serves as a bridge between operational profitability and responsible resource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A9073A9-847E-1B9A-C670-734850F5715C}"/>
              </a:ext>
            </a:extLst>
          </p:cNvPr>
          <p:cNvSpPr txBox="1"/>
          <p:nvPr/>
        </p:nvSpPr>
        <p:spPr>
          <a:xfrm>
            <a:off x="1813913" y="2648112"/>
            <a:ext cx="15849599" cy="4539191"/>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A Relational Inventory Control System improves this by linking suppliers, products, and transactions through a structured database, ensuring 100% data integrity. By utilizing real-time tracking and automated reorder points, the system prevents overstocking and ensures a "First-</a:t>
            </a:r>
            <a:r>
              <a:rPr lang="en-US" sz="2800" dirty="0" err="1">
                <a:latin typeface="Times New Roman" panose="02020603050405020304" pitchFamily="18" charset="0"/>
                <a:cs typeface="Times New Roman" panose="02020603050405020304" pitchFamily="18" charset="0"/>
              </a:rPr>
              <a:t>In,First</a:t>
            </a:r>
            <a:r>
              <a:rPr lang="en-US" sz="2800" dirty="0">
                <a:latin typeface="Times New Roman" panose="02020603050405020304" pitchFamily="18" charset="0"/>
                <a:cs typeface="Times New Roman" panose="02020603050405020304" pitchFamily="18" charset="0"/>
              </a:rPr>
              <a:t>-Out" (FIFO)  flow to minimize spoilage. This transition from reactive to proactive management optimizes resource use and provides the transparency needed for a sustainable supply chain.</a:t>
            </a:r>
          </a:p>
          <a:p>
            <a:pPr>
              <a:lnSpc>
                <a:spcPct val="150000"/>
              </a:lnSpc>
            </a:pPr>
            <a:r>
              <a:rPr lang="en-US" sz="2800" dirty="0">
                <a:latin typeface="Times New Roman" panose="02020603050405020304" pitchFamily="18" charset="0"/>
                <a:cs typeface="Times New Roman" panose="02020603050405020304" pitchFamily="18" charset="0"/>
              </a:rPr>
              <a:t>Ultimately, it bridges the gap between operational profitability and global sustainability by reducing the environmental footprint of production.</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176975" y="2455647"/>
            <a:ext cx="15082325" cy="8925520"/>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Manual inventory management often leads to data silos and inaccurate stock records, resulting in significant resource waste and over-ordering. This project is vital for aligning business operations with SDG 12: Responsible Consumption and Production by ensuring efficient resource use. In a real-world context, transparency in the supply chain prevents product spoilage and reduces the environmental footprint of excess production. The proposed system is a Relational Inventory Control and Stock Tracking solution designed to centralize data. By linking suppliers, products, and real-time transactions, it eliminates "phantom inventory" and human error. Automated alerts ensure optimal stock levels are maintained through proactive monitoring. Ultimately, the system serves as a bridge between operational profitability and global sustainability goals.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54166" y="2613197"/>
            <a:ext cx="15082325" cy="4539191"/>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By utilizing primary and foreign keys, the system eliminates data redundancy, ensuring that a stock update in one table instantly reflects across all related modules like billing and procurement. This connectivity provides high data integrity and allows for complex querying, enabling managers to identify trends or pinpoint "dead stock" with surgical precision. Furthermore, the relational model supports </a:t>
            </a:r>
            <a:r>
              <a:rPr lang="en-US" sz="2800" b="1" dirty="0">
                <a:latin typeface="Times New Roman" panose="02020603050405020304" pitchFamily="18" charset="0"/>
                <a:cs typeface="Times New Roman" panose="02020603050405020304" pitchFamily="18" charset="0"/>
              </a:rPr>
              <a:t>s</a:t>
            </a:r>
            <a:r>
              <a:rPr lang="en-US" sz="2800" dirty="0">
                <a:latin typeface="Times New Roman" panose="02020603050405020304" pitchFamily="18" charset="0"/>
                <a:cs typeface="Times New Roman" panose="02020603050405020304" pitchFamily="18" charset="0"/>
              </a:rPr>
              <a:t>calability and multi-user access, maintaining strict concurrency controls so that two sales of the same item don't result in overselling. Ultimately, it transforms raw counts into actionable insights, streamlining the supply chain while reducing manual entry errors.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05D679C-7F14-B19A-1865-872F9D0E0562}"/>
              </a:ext>
            </a:extLst>
          </p:cNvPr>
          <p:cNvPicPr>
            <a:picLocks noChangeAspect="1"/>
          </p:cNvPicPr>
          <p:nvPr/>
        </p:nvPicPr>
        <p:blipFill>
          <a:blip r:embed="rId4"/>
          <a:stretch>
            <a:fillRect/>
          </a:stretch>
        </p:blipFill>
        <p:spPr>
          <a:xfrm>
            <a:off x="2743200" y="1741462"/>
            <a:ext cx="13944600" cy="82026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CCBCF4F-AB4E-BC7F-96CD-3AEF19AFB2FC}"/>
              </a:ext>
            </a:extLst>
          </p:cNvPr>
          <p:cNvPicPr>
            <a:picLocks noChangeAspect="1"/>
          </p:cNvPicPr>
          <p:nvPr/>
        </p:nvPicPr>
        <p:blipFill>
          <a:blip r:embed="rId4"/>
          <a:stretch>
            <a:fillRect/>
          </a:stretch>
        </p:blipFill>
        <p:spPr>
          <a:xfrm>
            <a:off x="1821094" y="1741463"/>
            <a:ext cx="16009706"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096167"/>
          </a:xfrm>
          <a:prstGeom prst="rect">
            <a:avLst/>
          </a:prstGeom>
          <a:noFill/>
        </p:spPr>
        <p:txBody>
          <a:bodyPr wrap="square" rtlCol="0">
            <a:spAutoFit/>
          </a:bodyPr>
          <a:lstStyle/>
          <a:p>
            <a:pPr marL="457200" indent="-457200">
              <a:lnSpc>
                <a:spcPct val="150000"/>
              </a:lnSpc>
              <a:buFontTx/>
              <a:buChar char="-"/>
            </a:pPr>
            <a:r>
              <a:rPr lang="en-US" sz="2800" dirty="0">
                <a:latin typeface="Times New Roman" panose="02020603050405020304" pitchFamily="18" charset="0"/>
                <a:cs typeface="Times New Roman" panose="02020603050405020304" pitchFamily="18" charset="0"/>
              </a:rPr>
              <a:t>Frontend:</a:t>
            </a:r>
          </a:p>
          <a:p>
            <a:pPr>
              <a:lnSpc>
                <a:spcPct val="150000"/>
              </a:lnSpc>
            </a:pPr>
            <a:r>
              <a:rPr lang="en-US" sz="2800" b="1" dirty="0">
                <a:latin typeface="Times New Roman" panose="02020603050405020304" pitchFamily="18" charset="0"/>
                <a:cs typeface="Times New Roman" panose="02020603050405020304" pitchFamily="18" charset="0"/>
              </a:rPr>
              <a:t>	React.js or Angular: </a:t>
            </a:r>
            <a:r>
              <a:rPr lang="en-US" sz="2800" dirty="0">
                <a:latin typeface="Times New Roman" panose="02020603050405020304" pitchFamily="18" charset="0"/>
                <a:cs typeface="Times New Roman" panose="02020603050405020304" pitchFamily="18" charset="0"/>
              </a:rPr>
              <a:t>For building a dynamic, single-page application (SPA) that handles real-	time stock updates without refreshing.</a:t>
            </a:r>
          </a:p>
          <a:p>
            <a:pPr marL="457200" indent="-457200">
              <a:lnSpc>
                <a:spcPct val="150000"/>
              </a:lnSpc>
              <a:buFontTx/>
              <a:buChar char="-"/>
            </a:pPr>
            <a:r>
              <a:rPr lang="en-US" sz="2800" dirty="0">
                <a:latin typeface="Times New Roman" panose="02020603050405020304" pitchFamily="18" charset="0"/>
                <a:cs typeface="Times New Roman" panose="02020603050405020304" pitchFamily="18" charset="0"/>
              </a:rPr>
              <a:t>Backend:</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RESTful API or </a:t>
            </a:r>
            <a:r>
              <a:rPr lang="en-US" sz="2800" b="1" dirty="0" err="1">
                <a:latin typeface="Times New Roman" panose="02020603050405020304" pitchFamily="18" charset="0"/>
                <a:cs typeface="Times New Roman" panose="02020603050405020304" pitchFamily="18" charset="0"/>
              </a:rPr>
              <a:t>GraphQL</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To facilitate clean communication between the frontend and the database.</a:t>
            </a:r>
          </a:p>
          <a:p>
            <a:pPr marL="457200" indent="-457200">
              <a:lnSpc>
                <a:spcPct val="150000"/>
              </a:lnSpc>
              <a:buFontTx/>
              <a:buChar char="-"/>
            </a:pPr>
            <a:r>
              <a:rPr lang="en-US" sz="2800" dirty="0">
                <a:latin typeface="Times New Roman" panose="02020603050405020304" pitchFamily="18" charset="0"/>
                <a:cs typeface="Times New Roman" panose="02020603050405020304" pitchFamily="18" charset="0"/>
              </a:rPr>
              <a:t>Database:</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PostgreSQL or MySQL:</a:t>
            </a:r>
            <a:r>
              <a:rPr lang="en-US" sz="2800" dirty="0">
                <a:latin typeface="Times New Roman" panose="02020603050405020304" pitchFamily="18" charset="0"/>
                <a:cs typeface="Times New Roman" panose="02020603050405020304" pitchFamily="18" charset="0"/>
              </a:rPr>
              <a:t> These are the industry standard for relational systems, providing ACID compliance to ensure that stock counts are never "lost" during a crash.</a:t>
            </a:r>
          </a:p>
          <a:p>
            <a:pPr marL="457200" indent="-457200">
              <a:lnSpc>
                <a:spcPct val="150000"/>
              </a:lnSpc>
              <a:buFontTx/>
              <a:buChar char="-"/>
            </a:pPr>
            <a:r>
              <a:rPr lang="en-US" sz="2800" dirty="0">
                <a:latin typeface="Times New Roman" panose="02020603050405020304" pitchFamily="18" charset="0"/>
                <a:cs typeface="Times New Roman" panose="02020603050405020304" pitchFamily="18" charset="0"/>
              </a:rPr>
              <a:t>Tools used:</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Visual Studio Code</a:t>
            </a:r>
            <a:r>
              <a:rPr lang="en-US" sz="2800" dirty="0">
                <a:latin typeface="Times New Roman" panose="02020603050405020304" pitchFamily="18" charset="0"/>
                <a:cs typeface="Times New Roman" panose="02020603050405020304" pitchFamily="18" charset="0"/>
              </a:rPr>
              <a:t>: The primary Integrated Development Environment (IDE).</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Postman</a:t>
            </a:r>
            <a:r>
              <a:rPr lang="en-US" sz="2800" dirty="0">
                <a:latin typeface="Times New Roman" panose="02020603050405020304" pitchFamily="18" charset="0"/>
                <a:cs typeface="Times New Roman" panose="02020603050405020304" pitchFamily="18" charset="0"/>
              </a:rPr>
              <a:t>: For testing API endpoints before they are integrated into the frontend.</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Git/GitHub</a:t>
            </a:r>
            <a:r>
              <a:rPr lang="en-US" sz="2800" dirty="0">
                <a:latin typeface="Times New Roman" panose="02020603050405020304" pitchFamily="18" charset="0"/>
                <a:cs typeface="Times New Roman" panose="02020603050405020304" pitchFamily="18" charset="0"/>
              </a:rPr>
              <a:t>: For version control and collaborative coding.</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870148" y="1026766"/>
            <a:ext cx="15082325" cy="910967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cs typeface="Times New Roman" panose="02020603050405020304" pitchFamily="18" charset="0"/>
              </a:rPr>
              <a:t>Project Modules:</a:t>
            </a:r>
          </a:p>
          <a:p>
            <a:pPr>
              <a:lnSpc>
                <a:spcPct val="150000"/>
              </a:lnSpc>
            </a:pPr>
            <a:r>
              <a:rPr lang="en-US" sz="2800" b="1" dirty="0">
                <a:latin typeface="Times New Roman" panose="02020603050405020304" pitchFamily="18" charset="0"/>
                <a:cs typeface="Times New Roman" panose="02020603050405020304" pitchFamily="18" charset="0"/>
              </a:rPr>
              <a:t>Module 1</a:t>
            </a:r>
            <a:r>
              <a:rPr lang="en-US" sz="2800" dirty="0">
                <a:latin typeface="Times New Roman" panose="02020603050405020304" pitchFamily="18" charset="0"/>
                <a:cs typeface="Times New Roman" panose="02020603050405020304" pitchFamily="18" charset="0"/>
              </a:rPr>
              <a:t>: User &amp; Role Management Handles secure authentication (login/registration) and defines access levels, such as distinguishing between a Warehouse Clerk (who updates stock) and a Manager (who views financial reports).</a:t>
            </a: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Module 2: </a:t>
            </a:r>
            <a:r>
              <a:rPr lang="en-US" sz="2800" dirty="0">
                <a:latin typeface="Times New Roman" panose="02020603050405020304" pitchFamily="18" charset="0"/>
                <a:cs typeface="Times New Roman" panose="02020603050405020304" pitchFamily="18" charset="0"/>
              </a:rPr>
              <a:t>Inventory &amp; Stock Tracking The heart of the system that processes real-time stock levels, handles incoming shipments, manages barcode scanning, and updates "quantity on hand" automatically.</a:t>
            </a: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Module 3: </a:t>
            </a:r>
            <a:r>
              <a:rPr lang="en-US" sz="2800" dirty="0">
                <a:latin typeface="Times New Roman" panose="02020603050405020304" pitchFamily="18" charset="0"/>
                <a:cs typeface="Times New Roman" panose="02020603050405020304" pitchFamily="18" charset="0"/>
              </a:rPr>
              <a:t>Supplier &amp; Purchase Management Manages relational data for vendors, tracks pending purchase orders (POs), and links specific products to their primary and secondary suppliers for streamlined reordering.</a:t>
            </a: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Module 4: </a:t>
            </a:r>
            <a:r>
              <a:rPr lang="en-US" sz="2800" dirty="0">
                <a:latin typeface="Times New Roman" panose="02020603050405020304" pitchFamily="18" charset="0"/>
                <a:cs typeface="Times New Roman" panose="02020603050405020304" pitchFamily="18" charset="0"/>
              </a:rPr>
              <a:t>Analytics &amp; Low-Stock Alerts Generates visual dashboards and automated notifications when stock dips below defined thresholds, ensuring the business never runs out of critical items.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B04938-0DFC-8446-A438-6F287DDF8E09}"/>
              </a:ext>
            </a:extLst>
          </p:cNvPr>
          <p:cNvPicPr>
            <a:picLocks noChangeAspect="1"/>
          </p:cNvPicPr>
          <p:nvPr/>
        </p:nvPicPr>
        <p:blipFill>
          <a:blip r:embed="rId4"/>
          <a:stretch>
            <a:fillRect/>
          </a:stretch>
        </p:blipFill>
        <p:spPr>
          <a:xfrm>
            <a:off x="4048054" y="1906473"/>
            <a:ext cx="5429338" cy="657667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4590722-5351-A6EC-3C72-745A7A9ADFAC}"/>
              </a:ext>
            </a:extLst>
          </p:cNvPr>
          <p:cNvPicPr>
            <a:picLocks noChangeAspect="1"/>
          </p:cNvPicPr>
          <p:nvPr/>
        </p:nvPicPr>
        <p:blipFill>
          <a:blip r:embed="rId4"/>
          <a:stretch>
            <a:fillRect/>
          </a:stretch>
        </p:blipFill>
        <p:spPr>
          <a:xfrm>
            <a:off x="3230553" y="1919152"/>
            <a:ext cx="12877800" cy="732490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B4302395-499F-0C31-CAE4-BA38A4595B92}"/>
              </a:ext>
            </a:extLst>
          </p:cNvPr>
          <p:cNvPicPr>
            <a:picLocks noChangeAspect="1"/>
          </p:cNvPicPr>
          <p:nvPr/>
        </p:nvPicPr>
        <p:blipFill>
          <a:blip r:embed="rId4"/>
          <a:stretch>
            <a:fillRect/>
          </a:stretch>
        </p:blipFill>
        <p:spPr>
          <a:xfrm>
            <a:off x="2971801" y="1676326"/>
            <a:ext cx="13168142" cy="7886774"/>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789FD5B-B6F3-4D43-BDA8-CDE93EFCB8F0}"/>
              </a:ext>
            </a:extLst>
          </p:cNvPr>
          <p:cNvSpPr txBox="1"/>
          <p:nvPr/>
        </p:nvSpPr>
        <p:spPr>
          <a:xfrm>
            <a:off x="2043686" y="2681228"/>
            <a:ext cx="16053814" cy="5831853"/>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The primary advantage of this Relational Inventory Control System is its ability to maintain data integrity through structured relationships, ensuring that every product is strictly mapped to a specific category. This eliminates data redundancy and allows for complex querying and real-time stock monitoring, which is critical for preventing overselling. By using a Flask-</a:t>
            </a:r>
            <a:r>
              <a:rPr lang="en-US" sz="2800" dirty="0" err="1">
                <a:latin typeface="Times New Roman" panose="02020603050405020304" pitchFamily="18" charset="0"/>
                <a:cs typeface="Times New Roman" panose="02020603050405020304" pitchFamily="18" charset="0"/>
              </a:rPr>
              <a:t>SQLAlchemy</a:t>
            </a:r>
            <a:r>
              <a:rPr lang="en-US" sz="2800" dirty="0">
                <a:latin typeface="Times New Roman" panose="02020603050405020304" pitchFamily="18" charset="0"/>
                <a:cs typeface="Times New Roman" panose="02020603050405020304" pitchFamily="18" charset="0"/>
              </a:rPr>
              <a:t> stack, the system remains highly scalable and lightweight, making it easy to deploy or integrate with larger enterprise databases later. However, the disadvantages include a steeper initial setup curve compared to simple spreadsheets and a reliance on consistent database connectivity. Without a robust frontend validation layer, the system could also be vulnerable to human entry errors, and as the dataset grows into the millions of rows, performance may lag unless advanced indexing and caching strategies are implemented.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TotalTime>
  <Words>1072</Words>
  <Application>Microsoft Office PowerPoint</Application>
  <PresentationFormat>Custom</PresentationFormat>
  <Paragraphs>209</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Times New Roman</vt:lpstr>
      <vt:lpstr>Cambria</vt:lpstr>
      <vt:lpstr>Gotham</vt:lpstr>
      <vt:lpstr>Gotham Bold Italics</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jitheeswar . s</cp:lastModifiedBy>
  <cp:revision>18</cp:revision>
  <dcterms:created xsi:type="dcterms:W3CDTF">2006-08-16T00:00:00Z</dcterms:created>
  <dcterms:modified xsi:type="dcterms:W3CDTF">2026-03-25T04:30:07Z</dcterms:modified>
  <dc:identifier>DAHCaYqJ9OU</dc:identifier>
</cp:coreProperties>
</file>